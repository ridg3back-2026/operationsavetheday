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70" r:id="rId10"/>
    <p:sldId id="272" r:id="rId11"/>
    <p:sldId id="273" r:id="rId12"/>
    <p:sldId id="271" r:id="rId13"/>
    <p:sldId id="263" r:id="rId14"/>
    <p:sldId id="266" r:id="rId15"/>
    <p:sldId id="264" r:id="rId16"/>
    <p:sldId id="265" r:id="rId17"/>
    <p:sldId id="269" r:id="rId18"/>
  </p:sldIdLst>
  <p:sldSz cx="12192000" cy="6858000"/>
  <p:notesSz cx="6858000" cy="9144000"/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74F688-F04F-4207-9BA7-D178D6F84FFA}" v="82" dt="2025-11-29T21:17:25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FB2C8C-715E-45F4-B2A8-0DB5F417365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7293E5-BF9E-40F2-AFB1-0F2522BE937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Controller Logic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ED0582-66C9-4781-948C-F30CDB2D608D}" type="parTrans" cxnId="{E00DC94F-DCA7-4DBD-983C-2872B6FEAA0F}">
      <dgm:prSet/>
      <dgm:spPr/>
      <dgm:t>
        <a:bodyPr/>
        <a:lstStyle/>
        <a:p>
          <a:endParaRPr lang="en-US"/>
        </a:p>
      </dgm:t>
    </dgm:pt>
    <dgm:pt modelId="{F34B8B1E-2EA5-41B6-B522-18EF35DA09CB}" type="sibTrans" cxnId="{E00DC94F-DCA7-4DBD-983C-2872B6FEAA0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11E2DAC-5AFA-410C-A4A7-9107981579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Topology Manager: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Discovers switch connections and port mappings.</a:t>
          </a:r>
        </a:p>
      </dgm:t>
    </dgm:pt>
    <dgm:pt modelId="{E7AF287F-AB1D-4F84-B070-F2FD0FFE0C4B}" type="parTrans" cxnId="{B1B0F33C-2BD2-497C-A61A-E17A7D2FF7AE}">
      <dgm:prSet/>
      <dgm:spPr/>
      <dgm:t>
        <a:bodyPr/>
        <a:lstStyle/>
        <a:p>
          <a:endParaRPr lang="en-US"/>
        </a:p>
      </dgm:t>
    </dgm:pt>
    <dgm:pt modelId="{6B3521B1-87AA-4648-8EDE-1B416F38D720}" type="sibTrans" cxnId="{B1B0F33C-2BD2-497C-A61A-E17A7D2FF7A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95CC423-D0E1-4CB0-8B78-03AF0E40D4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Failure Detector: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Listens for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PortStatus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events to identify link failures (e.g., S3-S2).</a:t>
          </a:r>
        </a:p>
      </dgm:t>
    </dgm:pt>
    <dgm:pt modelId="{8B5D1F15-7415-429D-804A-F8C1F5CBA7C4}" type="parTrans" cxnId="{3701693C-5805-4CE6-8C3F-80E5E1806AB5}">
      <dgm:prSet/>
      <dgm:spPr/>
      <dgm:t>
        <a:bodyPr/>
        <a:lstStyle/>
        <a:p>
          <a:endParaRPr lang="en-US"/>
        </a:p>
      </dgm:t>
    </dgm:pt>
    <dgm:pt modelId="{FF8C530B-FE0E-45D3-925D-6F8912C293FB}" type="sibTrans" cxnId="{3701693C-5805-4CE6-8C3F-80E5E1806AB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8B9A07-8B09-48BF-BBE1-EE71102D2C9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Recovery Modules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9C5468-63DE-49D6-8604-0560E429740E}" type="parTrans" cxnId="{4DF47D54-F380-4F9E-A723-C369E841D2FE}">
      <dgm:prSet/>
      <dgm:spPr/>
      <dgm:t>
        <a:bodyPr/>
        <a:lstStyle/>
        <a:p>
          <a:endParaRPr lang="en-US"/>
        </a:p>
      </dgm:t>
    </dgm:pt>
    <dgm:pt modelId="{D8BE07FF-FE39-4265-BCCE-59BEF1B5D91D}" type="sibTrans" cxnId="{4DF47D54-F380-4F9E-A723-C369E841D2F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158F88-1577-4BD3-BE8C-574BEB3D0D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Path Selector: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Decides to switch from the primary to the backup path upon failure notification.</a:t>
          </a:r>
        </a:p>
      </dgm:t>
    </dgm:pt>
    <dgm:pt modelId="{CD3D64D5-45AD-4E61-A4BA-0AD4F3B19896}" type="parTrans" cxnId="{7630A951-4CD0-497D-B45C-E73FE8A507F9}">
      <dgm:prSet/>
      <dgm:spPr/>
      <dgm:t>
        <a:bodyPr/>
        <a:lstStyle/>
        <a:p>
          <a:endParaRPr lang="en-US"/>
        </a:p>
      </dgm:t>
    </dgm:pt>
    <dgm:pt modelId="{C877B904-C7C8-4FCE-BB16-CE6BEC65FEC4}" type="sibTrans" cxnId="{7630A951-4CD0-497D-B45C-E73FE8A507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70C1FF1-DFC2-4103-9B56-6A39D30657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Flow Manager: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Installs new OpenFlow rules on S2 and H2 to redirect traffic immediately.</a:t>
          </a:r>
        </a:p>
      </dgm:t>
    </dgm:pt>
    <dgm:pt modelId="{7F80F926-5C04-46AD-A2AF-FB5CEE0B7859}" type="parTrans" cxnId="{ED598876-6616-4AC2-9C99-708F2ACA69B7}">
      <dgm:prSet/>
      <dgm:spPr/>
      <dgm:t>
        <a:bodyPr/>
        <a:lstStyle/>
        <a:p>
          <a:endParaRPr lang="en-US"/>
        </a:p>
      </dgm:t>
    </dgm:pt>
    <dgm:pt modelId="{80C522FE-5ED1-4EF4-96D3-7263F9A54618}" type="sibTrans" cxnId="{ED598876-6616-4AC2-9C99-708F2ACA69B7}">
      <dgm:prSet/>
      <dgm:spPr/>
      <dgm:t>
        <a:bodyPr/>
        <a:lstStyle/>
        <a:p>
          <a:endParaRPr lang="en-US"/>
        </a:p>
      </dgm:t>
    </dgm:pt>
    <dgm:pt modelId="{D5578544-99F9-4556-88CF-ABABD3EDADE6}" type="pres">
      <dgm:prSet presAssocID="{E7FB2C8C-715E-45F4-B2A8-0DB5F4173657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JM"/>
        </a:p>
      </dgm:t>
    </dgm:pt>
    <dgm:pt modelId="{D18D76AE-2321-4250-984F-3028B5EDDFC0}" type="pres">
      <dgm:prSet presAssocID="{E7FB2C8C-715E-45F4-B2A8-0DB5F4173657}" presName="container" presStyleCnt="0">
        <dgm:presLayoutVars>
          <dgm:dir/>
          <dgm:resizeHandles val="exact"/>
        </dgm:presLayoutVars>
      </dgm:prSet>
      <dgm:spPr/>
    </dgm:pt>
    <dgm:pt modelId="{B8E68C24-1E94-42B8-9A64-EB3F73700F2A}" type="pres">
      <dgm:prSet presAssocID="{637293E5-BF9E-40F2-AFB1-0F2522BE9372}" presName="compNode" presStyleCnt="0"/>
      <dgm:spPr/>
    </dgm:pt>
    <dgm:pt modelId="{4CB5F452-E88A-4C68-A428-211D3173566D}" type="pres">
      <dgm:prSet presAssocID="{637293E5-BF9E-40F2-AFB1-0F2522BE9372}" presName="iconBgRect" presStyleLbl="bgShp" presStyleIdx="0" presStyleCnt="6"/>
      <dgm:spPr/>
    </dgm:pt>
    <dgm:pt modelId="{B0C186E0-A414-47E1-9F0F-F8F2860DCD14}" type="pres">
      <dgm:prSet presAssocID="{637293E5-BF9E-40F2-AFB1-0F2522BE9372}" presName="iconRect" presStyleLbl="node1" presStyleIdx="0" presStyleCnt="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JM"/>
        </a:p>
      </dgm:t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B3944253-2B1F-4789-9556-20C5516CF22A}" type="pres">
      <dgm:prSet presAssocID="{637293E5-BF9E-40F2-AFB1-0F2522BE9372}" presName="spaceRect" presStyleCnt="0"/>
      <dgm:spPr/>
    </dgm:pt>
    <dgm:pt modelId="{5E8CA2E9-8712-43E4-B8B5-5A87FCAD6E31}" type="pres">
      <dgm:prSet presAssocID="{637293E5-BF9E-40F2-AFB1-0F2522BE9372}" presName="textRect" presStyleLbl="revTx" presStyleIdx="0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JM"/>
        </a:p>
      </dgm:t>
    </dgm:pt>
    <dgm:pt modelId="{00ACF6BD-B4EF-422D-B117-415F24BDCD79}" type="pres">
      <dgm:prSet presAssocID="{F34B8B1E-2EA5-41B6-B522-18EF35DA09CB}" presName="sibTrans" presStyleLbl="sibTrans2D1" presStyleIdx="0" presStyleCnt="0"/>
      <dgm:spPr/>
      <dgm:t>
        <a:bodyPr/>
        <a:lstStyle/>
        <a:p>
          <a:endParaRPr lang="en-JM"/>
        </a:p>
      </dgm:t>
    </dgm:pt>
    <dgm:pt modelId="{CE964340-7326-4DB7-9A7B-8E7D34B54E26}" type="pres">
      <dgm:prSet presAssocID="{411E2DAC-5AFA-410C-A4A7-9107981579A2}" presName="compNode" presStyleCnt="0"/>
      <dgm:spPr/>
    </dgm:pt>
    <dgm:pt modelId="{A0D15A84-FD83-4C9E-8C11-7F42DC80BA15}" type="pres">
      <dgm:prSet presAssocID="{411E2DAC-5AFA-410C-A4A7-9107981579A2}" presName="iconBgRect" presStyleLbl="bgShp" presStyleIdx="1" presStyleCnt="6"/>
      <dgm:spPr/>
    </dgm:pt>
    <dgm:pt modelId="{43DAE38A-465C-431F-9A5F-8509DCD6A6F9}" type="pres">
      <dgm:prSet presAssocID="{411E2DAC-5AFA-410C-A4A7-9107981579A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JM"/>
        </a:p>
      </dgm:t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5871BAAB-5D0C-43AD-AC57-F6BEA6B199F8}" type="pres">
      <dgm:prSet presAssocID="{411E2DAC-5AFA-410C-A4A7-9107981579A2}" presName="spaceRect" presStyleCnt="0"/>
      <dgm:spPr/>
    </dgm:pt>
    <dgm:pt modelId="{E27856D3-0561-4B96-B08E-E1DB4DFAD4DF}" type="pres">
      <dgm:prSet presAssocID="{411E2DAC-5AFA-410C-A4A7-9107981579A2}" presName="textRect" presStyleLbl="revTx" presStyleIdx="1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JM"/>
        </a:p>
      </dgm:t>
    </dgm:pt>
    <dgm:pt modelId="{CAA64659-C555-4B7A-9045-8D6AAD16199C}" type="pres">
      <dgm:prSet presAssocID="{6B3521B1-87AA-4648-8EDE-1B416F38D720}" presName="sibTrans" presStyleLbl="sibTrans2D1" presStyleIdx="0" presStyleCnt="0"/>
      <dgm:spPr/>
      <dgm:t>
        <a:bodyPr/>
        <a:lstStyle/>
        <a:p>
          <a:endParaRPr lang="en-JM"/>
        </a:p>
      </dgm:t>
    </dgm:pt>
    <dgm:pt modelId="{AB3DCB2C-DA99-42F6-B956-B9D708E0DC29}" type="pres">
      <dgm:prSet presAssocID="{595CC423-D0E1-4CB0-8B78-03AF0E40D41F}" presName="compNode" presStyleCnt="0"/>
      <dgm:spPr/>
    </dgm:pt>
    <dgm:pt modelId="{FCBF7334-CADF-4592-9DE6-5FC92D979082}" type="pres">
      <dgm:prSet presAssocID="{595CC423-D0E1-4CB0-8B78-03AF0E40D41F}" presName="iconBgRect" presStyleLbl="bgShp" presStyleIdx="2" presStyleCnt="6"/>
      <dgm:spPr/>
    </dgm:pt>
    <dgm:pt modelId="{94F18DD4-FA79-4DEB-A8E6-0014C3D1D712}" type="pres">
      <dgm:prSet presAssocID="{595CC423-D0E1-4CB0-8B78-03AF0E40D41F}" presName="iconRect" presStyleLbl="node1" presStyleIdx="2" presStyleCnt="6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JM"/>
        </a:p>
      </dgm:t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6934FEA-F2AF-4D71-A592-735FFC85A989}" type="pres">
      <dgm:prSet presAssocID="{595CC423-D0E1-4CB0-8B78-03AF0E40D41F}" presName="spaceRect" presStyleCnt="0"/>
      <dgm:spPr/>
    </dgm:pt>
    <dgm:pt modelId="{0267C392-6F68-4C77-B12A-06D899F5E53F}" type="pres">
      <dgm:prSet presAssocID="{595CC423-D0E1-4CB0-8B78-03AF0E40D41F}" presName="textRect" presStyleLbl="revTx" presStyleIdx="2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JM"/>
        </a:p>
      </dgm:t>
    </dgm:pt>
    <dgm:pt modelId="{265673AD-2D92-47EB-8382-8DD0260A6199}" type="pres">
      <dgm:prSet presAssocID="{FF8C530B-FE0E-45D3-925D-6F8912C293FB}" presName="sibTrans" presStyleLbl="sibTrans2D1" presStyleIdx="0" presStyleCnt="0"/>
      <dgm:spPr/>
      <dgm:t>
        <a:bodyPr/>
        <a:lstStyle/>
        <a:p>
          <a:endParaRPr lang="en-JM"/>
        </a:p>
      </dgm:t>
    </dgm:pt>
    <dgm:pt modelId="{B638E1DD-8B65-4BCE-BD59-49D12F2A6CDB}" type="pres">
      <dgm:prSet presAssocID="{438B9A07-8B09-48BF-BBE1-EE71102D2C95}" presName="compNode" presStyleCnt="0"/>
      <dgm:spPr/>
    </dgm:pt>
    <dgm:pt modelId="{9CA8D442-A631-4BE5-ADE8-2BF7D6CDF822}" type="pres">
      <dgm:prSet presAssocID="{438B9A07-8B09-48BF-BBE1-EE71102D2C95}" presName="iconBgRect" presStyleLbl="bgShp" presStyleIdx="3" presStyleCnt="6"/>
      <dgm:spPr/>
    </dgm:pt>
    <dgm:pt modelId="{5875E1B6-2FB8-4D0E-B8C2-49786E493627}" type="pres">
      <dgm:prSet presAssocID="{438B9A07-8B09-48BF-BBE1-EE71102D2C95}" presName="iconRect" presStyleLbl="node1" presStyleIdx="3" presStyleCnt="6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JM"/>
        </a:p>
      </dgm:t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F1DC4D6-2DC0-4583-8784-8E9FF30AC616}" type="pres">
      <dgm:prSet presAssocID="{438B9A07-8B09-48BF-BBE1-EE71102D2C95}" presName="spaceRect" presStyleCnt="0"/>
      <dgm:spPr/>
    </dgm:pt>
    <dgm:pt modelId="{8BFA4AB4-378C-4697-91B8-58CB4B1C0F66}" type="pres">
      <dgm:prSet presAssocID="{438B9A07-8B09-48BF-BBE1-EE71102D2C95}" presName="textRect" presStyleLbl="revTx" presStyleIdx="3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JM"/>
        </a:p>
      </dgm:t>
    </dgm:pt>
    <dgm:pt modelId="{EEFEA554-8432-4D75-ACB9-D753F3915193}" type="pres">
      <dgm:prSet presAssocID="{D8BE07FF-FE39-4265-BCCE-59BEF1B5D91D}" presName="sibTrans" presStyleLbl="sibTrans2D1" presStyleIdx="0" presStyleCnt="0"/>
      <dgm:spPr/>
      <dgm:t>
        <a:bodyPr/>
        <a:lstStyle/>
        <a:p>
          <a:endParaRPr lang="en-JM"/>
        </a:p>
      </dgm:t>
    </dgm:pt>
    <dgm:pt modelId="{0EA1775A-B100-4AE1-B357-FDEA610BB99E}" type="pres">
      <dgm:prSet presAssocID="{D4158F88-1577-4BD3-BE8C-574BEB3D0D62}" presName="compNode" presStyleCnt="0"/>
      <dgm:spPr/>
    </dgm:pt>
    <dgm:pt modelId="{1C94138F-0EBA-409D-8912-A872C70DB409}" type="pres">
      <dgm:prSet presAssocID="{D4158F88-1577-4BD3-BE8C-574BEB3D0D62}" presName="iconBgRect" presStyleLbl="bgShp" presStyleIdx="4" presStyleCnt="6"/>
      <dgm:spPr/>
    </dgm:pt>
    <dgm:pt modelId="{05D68752-EA02-460C-955E-A6264CFEC266}" type="pres">
      <dgm:prSet presAssocID="{D4158F88-1577-4BD3-BE8C-574BEB3D0D62}" presName="iconRect" presStyleLbl="node1" presStyleIdx="4" presStyleCnt="6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JM"/>
        </a:p>
      </dgm:t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85BA52C7-E2E1-45FF-8295-BA990CD1B1CA}" type="pres">
      <dgm:prSet presAssocID="{D4158F88-1577-4BD3-BE8C-574BEB3D0D62}" presName="spaceRect" presStyleCnt="0"/>
      <dgm:spPr/>
    </dgm:pt>
    <dgm:pt modelId="{C64D0386-9E18-44FE-AF53-BE31EA5A6A0A}" type="pres">
      <dgm:prSet presAssocID="{D4158F88-1577-4BD3-BE8C-574BEB3D0D62}" presName="textRect" presStyleLbl="revTx" presStyleIdx="4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JM"/>
        </a:p>
      </dgm:t>
    </dgm:pt>
    <dgm:pt modelId="{B30E3D34-2123-4C4C-BA69-0DED4738C72C}" type="pres">
      <dgm:prSet presAssocID="{C877B904-C7C8-4FCE-BB16-CE6BEC65FEC4}" presName="sibTrans" presStyleLbl="sibTrans2D1" presStyleIdx="0" presStyleCnt="0"/>
      <dgm:spPr/>
      <dgm:t>
        <a:bodyPr/>
        <a:lstStyle/>
        <a:p>
          <a:endParaRPr lang="en-JM"/>
        </a:p>
      </dgm:t>
    </dgm:pt>
    <dgm:pt modelId="{ED38D805-6D7A-4F95-A4A9-DA73550D83C8}" type="pres">
      <dgm:prSet presAssocID="{370C1FF1-DFC2-4103-9B56-6A39D3065781}" presName="compNode" presStyleCnt="0"/>
      <dgm:spPr/>
    </dgm:pt>
    <dgm:pt modelId="{8FA4152E-B07F-4837-A26B-DD99AE6023AD}" type="pres">
      <dgm:prSet presAssocID="{370C1FF1-DFC2-4103-9B56-6A39D3065781}" presName="iconBgRect" presStyleLbl="bgShp" presStyleIdx="5" presStyleCnt="6"/>
      <dgm:spPr/>
    </dgm:pt>
    <dgm:pt modelId="{F6A5C65C-A436-4D4C-8B69-8429A164C833}" type="pres">
      <dgm:prSet presAssocID="{370C1FF1-DFC2-4103-9B56-6A39D3065781}" presName="iconRect" presStyleLbl="node1" presStyleIdx="5" presStyleCnt="6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JM"/>
        </a:p>
      </dgm:t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5159D1D1-1D6E-40F1-A0F6-5C48B290504B}" type="pres">
      <dgm:prSet presAssocID="{370C1FF1-DFC2-4103-9B56-6A39D3065781}" presName="spaceRect" presStyleCnt="0"/>
      <dgm:spPr/>
    </dgm:pt>
    <dgm:pt modelId="{40D5272D-45C5-4E00-9A37-D1C86D797762}" type="pres">
      <dgm:prSet presAssocID="{370C1FF1-DFC2-4103-9B56-6A39D3065781}" presName="textRect" presStyleLbl="revTx" presStyleIdx="5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JM"/>
        </a:p>
      </dgm:t>
    </dgm:pt>
  </dgm:ptLst>
  <dgm:cxnLst>
    <dgm:cxn modelId="{B1B0F33C-2BD2-497C-A61A-E17A7D2FF7AE}" srcId="{E7FB2C8C-715E-45F4-B2A8-0DB5F4173657}" destId="{411E2DAC-5AFA-410C-A4A7-9107981579A2}" srcOrd="1" destOrd="0" parTransId="{E7AF287F-AB1D-4F84-B070-F2FD0FFE0C4B}" sibTransId="{6B3521B1-87AA-4648-8EDE-1B416F38D720}"/>
    <dgm:cxn modelId="{4DF47D54-F380-4F9E-A723-C369E841D2FE}" srcId="{E7FB2C8C-715E-45F4-B2A8-0DB5F4173657}" destId="{438B9A07-8B09-48BF-BBE1-EE71102D2C95}" srcOrd="3" destOrd="0" parTransId="{8B9C5468-63DE-49D6-8604-0560E429740E}" sibTransId="{D8BE07FF-FE39-4265-BCCE-59BEF1B5D91D}"/>
    <dgm:cxn modelId="{E552AFBA-9975-44CF-B084-75D8521DE370}" type="presOf" srcId="{6B3521B1-87AA-4648-8EDE-1B416F38D720}" destId="{CAA64659-C555-4B7A-9045-8D6AAD16199C}" srcOrd="0" destOrd="0" presId="urn:microsoft.com/office/officeart/2018/2/layout/IconCircleList"/>
    <dgm:cxn modelId="{F6A5E077-C736-48F3-A97E-4CFAD2B78D20}" type="presOf" srcId="{D4158F88-1577-4BD3-BE8C-574BEB3D0D62}" destId="{C64D0386-9E18-44FE-AF53-BE31EA5A6A0A}" srcOrd="0" destOrd="0" presId="urn:microsoft.com/office/officeart/2018/2/layout/IconCircleList"/>
    <dgm:cxn modelId="{E824CD98-699E-41FF-AB5F-0734B8CBA077}" type="presOf" srcId="{FF8C530B-FE0E-45D3-925D-6F8912C293FB}" destId="{265673AD-2D92-47EB-8382-8DD0260A6199}" srcOrd="0" destOrd="0" presId="urn:microsoft.com/office/officeart/2018/2/layout/IconCircleList"/>
    <dgm:cxn modelId="{E00DC94F-DCA7-4DBD-983C-2872B6FEAA0F}" srcId="{E7FB2C8C-715E-45F4-B2A8-0DB5F4173657}" destId="{637293E5-BF9E-40F2-AFB1-0F2522BE9372}" srcOrd="0" destOrd="0" parTransId="{4DED0582-66C9-4781-948C-F30CDB2D608D}" sibTransId="{F34B8B1E-2EA5-41B6-B522-18EF35DA09CB}"/>
    <dgm:cxn modelId="{12A35F12-304D-449E-8B84-31D5CF4C5BF3}" type="presOf" srcId="{D8BE07FF-FE39-4265-BCCE-59BEF1B5D91D}" destId="{EEFEA554-8432-4D75-ACB9-D753F3915193}" srcOrd="0" destOrd="0" presId="urn:microsoft.com/office/officeart/2018/2/layout/IconCircleList"/>
    <dgm:cxn modelId="{ED598876-6616-4AC2-9C99-708F2ACA69B7}" srcId="{E7FB2C8C-715E-45F4-B2A8-0DB5F4173657}" destId="{370C1FF1-DFC2-4103-9B56-6A39D3065781}" srcOrd="5" destOrd="0" parTransId="{7F80F926-5C04-46AD-A2AF-FB5CEE0B7859}" sibTransId="{80C522FE-5ED1-4EF4-96D3-7263F9A54618}"/>
    <dgm:cxn modelId="{3701693C-5805-4CE6-8C3F-80E5E1806AB5}" srcId="{E7FB2C8C-715E-45F4-B2A8-0DB5F4173657}" destId="{595CC423-D0E1-4CB0-8B78-03AF0E40D41F}" srcOrd="2" destOrd="0" parTransId="{8B5D1F15-7415-429D-804A-F8C1F5CBA7C4}" sibTransId="{FF8C530B-FE0E-45D3-925D-6F8912C293FB}"/>
    <dgm:cxn modelId="{80113811-C1C6-4EAF-8AF4-3F731B228843}" type="presOf" srcId="{637293E5-BF9E-40F2-AFB1-0F2522BE9372}" destId="{5E8CA2E9-8712-43E4-B8B5-5A87FCAD6E31}" srcOrd="0" destOrd="0" presId="urn:microsoft.com/office/officeart/2018/2/layout/IconCircleList"/>
    <dgm:cxn modelId="{4E3DF272-98CB-46E5-B7DF-CBEF3A73BB97}" type="presOf" srcId="{F34B8B1E-2EA5-41B6-B522-18EF35DA09CB}" destId="{00ACF6BD-B4EF-422D-B117-415F24BDCD79}" srcOrd="0" destOrd="0" presId="urn:microsoft.com/office/officeart/2018/2/layout/IconCircleList"/>
    <dgm:cxn modelId="{736657C0-C767-41AB-AF7D-8339A03EF1F0}" type="presOf" srcId="{C877B904-C7C8-4FCE-BB16-CE6BEC65FEC4}" destId="{B30E3D34-2123-4C4C-BA69-0DED4738C72C}" srcOrd="0" destOrd="0" presId="urn:microsoft.com/office/officeart/2018/2/layout/IconCircleList"/>
    <dgm:cxn modelId="{3587500F-5AF1-494D-8F10-46403AAFFCE5}" type="presOf" srcId="{438B9A07-8B09-48BF-BBE1-EE71102D2C95}" destId="{8BFA4AB4-378C-4697-91B8-58CB4B1C0F66}" srcOrd="0" destOrd="0" presId="urn:microsoft.com/office/officeart/2018/2/layout/IconCircleList"/>
    <dgm:cxn modelId="{EC1276C1-42E5-4FE6-B7BD-0A0BF7147724}" type="presOf" srcId="{595CC423-D0E1-4CB0-8B78-03AF0E40D41F}" destId="{0267C392-6F68-4C77-B12A-06D899F5E53F}" srcOrd="0" destOrd="0" presId="urn:microsoft.com/office/officeart/2018/2/layout/IconCircleList"/>
    <dgm:cxn modelId="{0B45C2F1-0644-4DB3-B099-A32C8EDE9728}" type="presOf" srcId="{E7FB2C8C-715E-45F4-B2A8-0DB5F4173657}" destId="{D5578544-99F9-4556-88CF-ABABD3EDADE6}" srcOrd="0" destOrd="0" presId="urn:microsoft.com/office/officeart/2018/2/layout/IconCircleList"/>
    <dgm:cxn modelId="{F03D6E2C-9FE5-4F88-93E3-B6B3C7AC9C27}" type="presOf" srcId="{370C1FF1-DFC2-4103-9B56-6A39D3065781}" destId="{40D5272D-45C5-4E00-9A37-D1C86D797762}" srcOrd="0" destOrd="0" presId="urn:microsoft.com/office/officeart/2018/2/layout/IconCircleList"/>
    <dgm:cxn modelId="{7630A951-4CD0-497D-B45C-E73FE8A507F9}" srcId="{E7FB2C8C-715E-45F4-B2A8-0DB5F4173657}" destId="{D4158F88-1577-4BD3-BE8C-574BEB3D0D62}" srcOrd="4" destOrd="0" parTransId="{CD3D64D5-45AD-4E61-A4BA-0AD4F3B19896}" sibTransId="{C877B904-C7C8-4FCE-BB16-CE6BEC65FEC4}"/>
    <dgm:cxn modelId="{0D425DE5-37FC-4730-9FE0-B57995659245}" type="presOf" srcId="{411E2DAC-5AFA-410C-A4A7-9107981579A2}" destId="{E27856D3-0561-4B96-B08E-E1DB4DFAD4DF}" srcOrd="0" destOrd="0" presId="urn:microsoft.com/office/officeart/2018/2/layout/IconCircleList"/>
    <dgm:cxn modelId="{1E861BD5-AF67-4EFD-AE42-D9D642776B26}" type="presParOf" srcId="{D5578544-99F9-4556-88CF-ABABD3EDADE6}" destId="{D18D76AE-2321-4250-984F-3028B5EDDFC0}" srcOrd="0" destOrd="0" presId="urn:microsoft.com/office/officeart/2018/2/layout/IconCircleList"/>
    <dgm:cxn modelId="{8C37E14F-36CD-4F94-8EB9-9FADF1AC6F52}" type="presParOf" srcId="{D18D76AE-2321-4250-984F-3028B5EDDFC0}" destId="{B8E68C24-1E94-42B8-9A64-EB3F73700F2A}" srcOrd="0" destOrd="0" presId="urn:microsoft.com/office/officeart/2018/2/layout/IconCircleList"/>
    <dgm:cxn modelId="{BDA87EB5-BA96-41D0-937A-C973EA304A75}" type="presParOf" srcId="{B8E68C24-1E94-42B8-9A64-EB3F73700F2A}" destId="{4CB5F452-E88A-4C68-A428-211D3173566D}" srcOrd="0" destOrd="0" presId="urn:microsoft.com/office/officeart/2018/2/layout/IconCircleList"/>
    <dgm:cxn modelId="{74C5B389-A3CD-4338-92D5-BC1FF9C13B5E}" type="presParOf" srcId="{B8E68C24-1E94-42B8-9A64-EB3F73700F2A}" destId="{B0C186E0-A414-47E1-9F0F-F8F2860DCD14}" srcOrd="1" destOrd="0" presId="urn:microsoft.com/office/officeart/2018/2/layout/IconCircleList"/>
    <dgm:cxn modelId="{2C983053-B4EC-4A75-A0E4-15C8F22CBD52}" type="presParOf" srcId="{B8E68C24-1E94-42B8-9A64-EB3F73700F2A}" destId="{B3944253-2B1F-4789-9556-20C5516CF22A}" srcOrd="2" destOrd="0" presId="urn:microsoft.com/office/officeart/2018/2/layout/IconCircleList"/>
    <dgm:cxn modelId="{B552E9E7-491D-4508-AF41-2A22D98FB744}" type="presParOf" srcId="{B8E68C24-1E94-42B8-9A64-EB3F73700F2A}" destId="{5E8CA2E9-8712-43E4-B8B5-5A87FCAD6E31}" srcOrd="3" destOrd="0" presId="urn:microsoft.com/office/officeart/2018/2/layout/IconCircleList"/>
    <dgm:cxn modelId="{47C1BBA9-688F-4A7C-B6F4-E9E8F5D1371C}" type="presParOf" srcId="{D18D76AE-2321-4250-984F-3028B5EDDFC0}" destId="{00ACF6BD-B4EF-422D-B117-415F24BDCD79}" srcOrd="1" destOrd="0" presId="urn:microsoft.com/office/officeart/2018/2/layout/IconCircleList"/>
    <dgm:cxn modelId="{B41A6DBA-9A82-4D57-8071-13A349DFCB2D}" type="presParOf" srcId="{D18D76AE-2321-4250-984F-3028B5EDDFC0}" destId="{CE964340-7326-4DB7-9A7B-8E7D34B54E26}" srcOrd="2" destOrd="0" presId="urn:microsoft.com/office/officeart/2018/2/layout/IconCircleList"/>
    <dgm:cxn modelId="{B291E66E-CB84-4CDD-B306-194E1776D2B3}" type="presParOf" srcId="{CE964340-7326-4DB7-9A7B-8E7D34B54E26}" destId="{A0D15A84-FD83-4C9E-8C11-7F42DC80BA15}" srcOrd="0" destOrd="0" presId="urn:microsoft.com/office/officeart/2018/2/layout/IconCircleList"/>
    <dgm:cxn modelId="{9AB833CC-C403-4952-9869-FBB9DF887DCB}" type="presParOf" srcId="{CE964340-7326-4DB7-9A7B-8E7D34B54E26}" destId="{43DAE38A-465C-431F-9A5F-8509DCD6A6F9}" srcOrd="1" destOrd="0" presId="urn:microsoft.com/office/officeart/2018/2/layout/IconCircleList"/>
    <dgm:cxn modelId="{8ADBEB1E-31EC-4D40-81F5-E827CD62DA23}" type="presParOf" srcId="{CE964340-7326-4DB7-9A7B-8E7D34B54E26}" destId="{5871BAAB-5D0C-43AD-AC57-F6BEA6B199F8}" srcOrd="2" destOrd="0" presId="urn:microsoft.com/office/officeart/2018/2/layout/IconCircleList"/>
    <dgm:cxn modelId="{F5600219-ED1C-421D-9A79-C27A52A37B3A}" type="presParOf" srcId="{CE964340-7326-4DB7-9A7B-8E7D34B54E26}" destId="{E27856D3-0561-4B96-B08E-E1DB4DFAD4DF}" srcOrd="3" destOrd="0" presId="urn:microsoft.com/office/officeart/2018/2/layout/IconCircleList"/>
    <dgm:cxn modelId="{DC73448B-1C7A-4688-B8F2-1A9232ABD2EF}" type="presParOf" srcId="{D18D76AE-2321-4250-984F-3028B5EDDFC0}" destId="{CAA64659-C555-4B7A-9045-8D6AAD16199C}" srcOrd="3" destOrd="0" presId="urn:microsoft.com/office/officeart/2018/2/layout/IconCircleList"/>
    <dgm:cxn modelId="{E79EA485-04E3-4A47-8B6E-24482E9DD174}" type="presParOf" srcId="{D18D76AE-2321-4250-984F-3028B5EDDFC0}" destId="{AB3DCB2C-DA99-42F6-B956-B9D708E0DC29}" srcOrd="4" destOrd="0" presId="urn:microsoft.com/office/officeart/2018/2/layout/IconCircleList"/>
    <dgm:cxn modelId="{FD6CAC47-FB1A-44E7-878F-375B1500949A}" type="presParOf" srcId="{AB3DCB2C-DA99-42F6-B956-B9D708E0DC29}" destId="{FCBF7334-CADF-4592-9DE6-5FC92D979082}" srcOrd="0" destOrd="0" presId="urn:microsoft.com/office/officeart/2018/2/layout/IconCircleList"/>
    <dgm:cxn modelId="{8850B26F-DA6F-4947-9D83-A7B1C6F9348E}" type="presParOf" srcId="{AB3DCB2C-DA99-42F6-B956-B9D708E0DC29}" destId="{94F18DD4-FA79-4DEB-A8E6-0014C3D1D712}" srcOrd="1" destOrd="0" presId="urn:microsoft.com/office/officeart/2018/2/layout/IconCircleList"/>
    <dgm:cxn modelId="{3723BEC8-B598-417B-B744-296B6E70C709}" type="presParOf" srcId="{AB3DCB2C-DA99-42F6-B956-B9D708E0DC29}" destId="{66934FEA-F2AF-4D71-A592-735FFC85A989}" srcOrd="2" destOrd="0" presId="urn:microsoft.com/office/officeart/2018/2/layout/IconCircleList"/>
    <dgm:cxn modelId="{EE03C098-B6C2-44CA-8043-B2EDC96119E1}" type="presParOf" srcId="{AB3DCB2C-DA99-42F6-B956-B9D708E0DC29}" destId="{0267C392-6F68-4C77-B12A-06D899F5E53F}" srcOrd="3" destOrd="0" presId="urn:microsoft.com/office/officeart/2018/2/layout/IconCircleList"/>
    <dgm:cxn modelId="{E408F267-A159-4391-A56C-B391EDD343B6}" type="presParOf" srcId="{D18D76AE-2321-4250-984F-3028B5EDDFC0}" destId="{265673AD-2D92-47EB-8382-8DD0260A6199}" srcOrd="5" destOrd="0" presId="urn:microsoft.com/office/officeart/2018/2/layout/IconCircleList"/>
    <dgm:cxn modelId="{AC696B5F-210C-450F-A6A7-87A9BF447B9B}" type="presParOf" srcId="{D18D76AE-2321-4250-984F-3028B5EDDFC0}" destId="{B638E1DD-8B65-4BCE-BD59-49D12F2A6CDB}" srcOrd="6" destOrd="0" presId="urn:microsoft.com/office/officeart/2018/2/layout/IconCircleList"/>
    <dgm:cxn modelId="{FAD715B2-7BDB-4B6F-A78A-989FAE8B20F5}" type="presParOf" srcId="{B638E1DD-8B65-4BCE-BD59-49D12F2A6CDB}" destId="{9CA8D442-A631-4BE5-ADE8-2BF7D6CDF822}" srcOrd="0" destOrd="0" presId="urn:microsoft.com/office/officeart/2018/2/layout/IconCircleList"/>
    <dgm:cxn modelId="{0996DF34-564D-435B-A4BE-511A0F5D2B02}" type="presParOf" srcId="{B638E1DD-8B65-4BCE-BD59-49D12F2A6CDB}" destId="{5875E1B6-2FB8-4D0E-B8C2-49786E493627}" srcOrd="1" destOrd="0" presId="urn:microsoft.com/office/officeart/2018/2/layout/IconCircleList"/>
    <dgm:cxn modelId="{04F3E1EC-32DB-4F38-A894-6609D8FB777F}" type="presParOf" srcId="{B638E1DD-8B65-4BCE-BD59-49D12F2A6CDB}" destId="{9F1DC4D6-2DC0-4583-8784-8E9FF30AC616}" srcOrd="2" destOrd="0" presId="urn:microsoft.com/office/officeart/2018/2/layout/IconCircleList"/>
    <dgm:cxn modelId="{26AB68B9-48C3-49D4-9D3E-B30AD1D407CE}" type="presParOf" srcId="{B638E1DD-8B65-4BCE-BD59-49D12F2A6CDB}" destId="{8BFA4AB4-378C-4697-91B8-58CB4B1C0F66}" srcOrd="3" destOrd="0" presId="urn:microsoft.com/office/officeart/2018/2/layout/IconCircleList"/>
    <dgm:cxn modelId="{5A8B88BF-2D5C-4535-948E-F173C0668A18}" type="presParOf" srcId="{D18D76AE-2321-4250-984F-3028B5EDDFC0}" destId="{EEFEA554-8432-4D75-ACB9-D753F3915193}" srcOrd="7" destOrd="0" presId="urn:microsoft.com/office/officeart/2018/2/layout/IconCircleList"/>
    <dgm:cxn modelId="{40FD6B40-73F1-4E24-98C1-EB93AF206333}" type="presParOf" srcId="{D18D76AE-2321-4250-984F-3028B5EDDFC0}" destId="{0EA1775A-B100-4AE1-B357-FDEA610BB99E}" srcOrd="8" destOrd="0" presId="urn:microsoft.com/office/officeart/2018/2/layout/IconCircleList"/>
    <dgm:cxn modelId="{0F145169-9D4F-49FA-82A4-BB1DEEE5E058}" type="presParOf" srcId="{0EA1775A-B100-4AE1-B357-FDEA610BB99E}" destId="{1C94138F-0EBA-409D-8912-A872C70DB409}" srcOrd="0" destOrd="0" presId="urn:microsoft.com/office/officeart/2018/2/layout/IconCircleList"/>
    <dgm:cxn modelId="{3C399D64-D484-4B15-9F92-325B147AD81B}" type="presParOf" srcId="{0EA1775A-B100-4AE1-B357-FDEA610BB99E}" destId="{05D68752-EA02-460C-955E-A6264CFEC266}" srcOrd="1" destOrd="0" presId="urn:microsoft.com/office/officeart/2018/2/layout/IconCircleList"/>
    <dgm:cxn modelId="{262FF36D-3ECD-400F-9965-2B46841AF6A5}" type="presParOf" srcId="{0EA1775A-B100-4AE1-B357-FDEA610BB99E}" destId="{85BA52C7-E2E1-45FF-8295-BA990CD1B1CA}" srcOrd="2" destOrd="0" presId="urn:microsoft.com/office/officeart/2018/2/layout/IconCircleList"/>
    <dgm:cxn modelId="{FC3AEAC9-1135-4707-BCEA-E99221169A65}" type="presParOf" srcId="{0EA1775A-B100-4AE1-B357-FDEA610BB99E}" destId="{C64D0386-9E18-44FE-AF53-BE31EA5A6A0A}" srcOrd="3" destOrd="0" presId="urn:microsoft.com/office/officeart/2018/2/layout/IconCircleList"/>
    <dgm:cxn modelId="{021E99C5-C42A-4EAD-BF75-B46CFD860877}" type="presParOf" srcId="{D18D76AE-2321-4250-984F-3028B5EDDFC0}" destId="{B30E3D34-2123-4C4C-BA69-0DED4738C72C}" srcOrd="9" destOrd="0" presId="urn:microsoft.com/office/officeart/2018/2/layout/IconCircleList"/>
    <dgm:cxn modelId="{526363C9-1B89-4379-AE0E-F40C51E96C7D}" type="presParOf" srcId="{D18D76AE-2321-4250-984F-3028B5EDDFC0}" destId="{ED38D805-6D7A-4F95-A4A9-DA73550D83C8}" srcOrd="10" destOrd="0" presId="urn:microsoft.com/office/officeart/2018/2/layout/IconCircleList"/>
    <dgm:cxn modelId="{E6A483D2-614F-4A65-98FD-AEF31942BD73}" type="presParOf" srcId="{ED38D805-6D7A-4F95-A4A9-DA73550D83C8}" destId="{8FA4152E-B07F-4837-A26B-DD99AE6023AD}" srcOrd="0" destOrd="0" presId="urn:microsoft.com/office/officeart/2018/2/layout/IconCircleList"/>
    <dgm:cxn modelId="{F3317C91-9E18-4C70-B329-3C82A00AE721}" type="presParOf" srcId="{ED38D805-6D7A-4F95-A4A9-DA73550D83C8}" destId="{F6A5C65C-A436-4D4C-8B69-8429A164C833}" srcOrd="1" destOrd="0" presId="urn:microsoft.com/office/officeart/2018/2/layout/IconCircleList"/>
    <dgm:cxn modelId="{CF706A4D-EF17-4D7E-9A1D-079362E88F9F}" type="presParOf" srcId="{ED38D805-6D7A-4F95-A4A9-DA73550D83C8}" destId="{5159D1D1-1D6E-40F1-A0F6-5C48B290504B}" srcOrd="2" destOrd="0" presId="urn:microsoft.com/office/officeart/2018/2/layout/IconCircleList"/>
    <dgm:cxn modelId="{595477C3-F207-4E98-95E8-F81B47DA1C0E}" type="presParOf" srcId="{ED38D805-6D7A-4F95-A4A9-DA73550D83C8}" destId="{40D5272D-45C5-4E00-9A37-D1C86D79776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B5F452-E88A-4C68-A428-211D3173566D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186E0-A414-47E1-9F0F-F8F2860DCD14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CA2E9-8712-43E4-B8B5-5A87FCAD6E31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Controller Logic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72126" y="908559"/>
        <a:ext cx="2114937" cy="897246"/>
      </dsp:txXfrm>
    </dsp:sp>
    <dsp:sp modelId="{A0D15A84-FD83-4C9E-8C11-7F42DC80BA15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AE38A-465C-431F-9A5F-8509DCD6A6F9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856D3-0561-4B96-B08E-E1DB4DFAD4DF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Topology Manager: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Discovers switch connections and port mappings.</a:t>
          </a:r>
        </a:p>
      </dsp:txBody>
      <dsp:txXfrm>
        <a:off x="4745088" y="908559"/>
        <a:ext cx="2114937" cy="897246"/>
      </dsp:txXfrm>
    </dsp:sp>
    <dsp:sp modelId="{FCBF7334-CADF-4592-9DE6-5FC92D979082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F18DD4-FA79-4DEB-A8E6-0014C3D1D712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7C392-6F68-4C77-B12A-06D899F5E53F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Failure Detector: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Listens for </a:t>
          </a:r>
          <a:r>
            <a:rPr lang="en-US" sz="1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PortStatus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events to identify link failures (e.g., S3-S2).</a:t>
          </a:r>
        </a:p>
      </dsp:txBody>
      <dsp:txXfrm>
        <a:off x="8318049" y="908559"/>
        <a:ext cx="2114937" cy="897246"/>
      </dsp:txXfrm>
    </dsp:sp>
    <dsp:sp modelId="{9CA8D442-A631-4BE5-ADE8-2BF7D6CDF822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75E1B6-2FB8-4D0E-B8C2-49786E493627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A4AB4-378C-4697-91B8-58CB4B1C0F66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Recovery Modules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72126" y="2545532"/>
        <a:ext cx="2114937" cy="897246"/>
      </dsp:txXfrm>
    </dsp:sp>
    <dsp:sp modelId="{1C94138F-0EBA-409D-8912-A872C70DB409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68752-EA02-460C-955E-A6264CFEC266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D0386-9E18-44FE-AF53-BE31EA5A6A0A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Path Selector: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Decides to switch from the primary to the backup path upon failure notification.</a:t>
          </a:r>
        </a:p>
      </dsp:txBody>
      <dsp:txXfrm>
        <a:off x="4745088" y="2545532"/>
        <a:ext cx="2114937" cy="897246"/>
      </dsp:txXfrm>
    </dsp:sp>
    <dsp:sp modelId="{8FA4152E-B07F-4837-A26B-DD99AE6023AD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5C65C-A436-4D4C-8B69-8429A164C833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D5272D-45C5-4E00-9A37-D1C86D797762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Flow Manager:</a:t>
          </a: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Installs new OpenFlow rules on S2 and H2 to redirect traffic immediately.</a:t>
          </a:r>
        </a:p>
      </dsp:txBody>
      <dsp:txXfrm>
        <a:off x="8318049" y="2545532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9B93D3-E425-0CE1-02A3-955D3A5C9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7DE4949-1F92-BA78-5724-BEEE524F8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18F474-CB8E-5E34-EF10-DC52B7F6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EA3C585-6E07-6BB0-3FDC-9F83803E2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C335E1-5565-36AF-7193-7CD9D62B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22841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9C6676-44A3-D453-3831-EE5BA81F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063CB0-E759-0D96-6B06-6EA77F609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126CE4-25BD-3138-5E4C-89E63152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3C5CD81-704B-8CA2-48F9-45ADC4EE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8C0D94-32B0-B367-AA60-D09DF031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20345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0284B9-902B-A906-73CD-B4B4B122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BEEB3D3-F802-F213-273D-AF7FB3EEC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8A8212-BED9-F162-6120-8CFE82D6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8EE0679-CC7C-BF07-D18C-1961E06F3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917A73E-E046-4D09-34DF-8E0913778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70412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283B33-4E4C-6499-579E-BA1E5E5DF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B8E3C4-41EE-5E4B-ED0F-9180E009A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69CF51A-18E8-CDD6-A937-C7EF9AEAC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637ED40-C046-39D4-9185-82B9138C4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F4A5A4D-E62D-703A-D610-99466B1C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DE0AADE-B4B8-3D7E-5D17-4014AB94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57400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629A7F-C5F4-8CD0-F0CA-EF2F4868D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E84FB5F-0D3A-5B84-1C14-4B5C6A58D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EB85E68-785B-7DF8-1E2F-B050731BB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55A0FD8-A4F7-DFB6-6856-FA3D0B1A7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CCB8CED-1FE1-9775-D223-A3580CE91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A7B22A0-1BB0-0C55-FF3B-54FC6A9E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96CF68A-F092-564E-C58D-6499213C4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B5BCFD5-F13C-68AA-555A-775A01F1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51804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40747B-1DAC-5B34-A3F8-E528607C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BAE95E2-E9CB-E8AF-8BBC-98487F3C2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348A352-79F8-F7D9-8D9B-67971E8C3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F1A31DE-835E-B717-E1E6-4148C4EE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62964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9D1B19E-42EE-CD74-E7FE-18669BA0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168FDA7-D260-02C1-AFC2-B428C101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A88278-B5AD-35F8-CF36-BA32B36D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62570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44BE3D-2F02-361F-3387-040ED97A7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F2E00A-E0B9-9086-460D-D293383CD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F1633BD-FE21-3DFD-F4C1-383888F12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22D7111-9D2B-EFA2-F296-D9343113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14E16A1-5BC7-E777-924F-29E705B9A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BD8745A-C3CB-A039-8952-BC931D29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35820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C0C1C0-F6E7-66BF-6282-D3B97CE32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6CC7A86-0CF4-1ECB-B6B3-E276BAF9E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a-E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971B41B-868A-302B-2AAD-9A457DEAF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2F150C6-425D-6D92-8395-D9EA3C0E4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35BCB7-21C2-A472-EDF2-6EFCC326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E66C5CB-360B-0738-8CF3-35959AD31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727925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3CFEF5-DF53-4759-BBA9-1D3372C3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5EAB8E2-3829-45BD-2912-B698A313F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E7751D4-6085-F44C-0F64-27465CF3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CAC9D42-BCCA-FECE-7947-BC7BB7A5C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8FB2EB-8E82-E6AB-5F02-27A024CE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122906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E1B975C-4B8F-C9C0-0E9C-241C64D13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0F3DC3A-DDE0-D9BC-33C5-EB8098F49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7AF2895-F56D-ED4E-9E5C-D66D856F1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274681-4314-E936-6669-43E17F050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89E044-475F-37AC-C677-FF945AA30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74756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27CFB20-0C0D-645E-4316-495788BEB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a-E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C442EA7-ED9A-1B4B-CD3F-871809F5D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a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BEC031-C0DB-9BCE-19AC-9FA3204BC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40185-BAA3-4272-8006-38B687186414}" type="datetimeFigureOut">
              <a:rPr lang="aa-ET" smtClean="0"/>
              <a:t>01/12/2025</a:t>
            </a:fld>
            <a:endParaRPr lang="aa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F8FA31-97E0-B18F-2CE2-B1511AD0F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354C4E-1A0E-BECF-F3F4-80CE0F167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36E888-ACAD-45E8-8983-590D78C3EF70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92802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a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mall-topo.py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xmlns="" id="{71B2258F-86CA-4D4D-8270-BC05FCDEBF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blue and white background&#10;&#10;AI-generated content may be incorrect.">
            <a:extLst>
              <a:ext uri="{FF2B5EF4-FFF2-40B4-BE49-F238E27FC236}">
                <a16:creationId xmlns:a16="http://schemas.microsoft.com/office/drawing/2014/main" xmlns="" id="{9C2042BA-01EC-B28D-B676-B84919BA1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-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5D132E-814F-C794-9606-B0E0AA2D5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pPr rtl="0">
              <a:buNone/>
            </a:pPr>
            <a:r>
              <a:rPr lang="en-US" sz="5100" b="1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Reactive</a:t>
            </a:r>
            <a:r>
              <a:rPr lang="en-US" sz="5100" b="0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100" b="0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100" b="1" i="0" u="none" strike="noStrike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Failure Recovery</a:t>
            </a:r>
            <a:endParaRPr lang="en-US" sz="5100" b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5100" dirty="0">
                <a:solidFill>
                  <a:srgbClr val="FFFFFF"/>
                </a:solidFill>
              </a:rPr>
              <a:t/>
            </a:r>
            <a:br>
              <a:rPr lang="en-US" sz="5100" dirty="0">
                <a:solidFill>
                  <a:srgbClr val="FFFFFF"/>
                </a:solidFill>
              </a:rPr>
            </a:br>
            <a:endParaRPr lang="aa-ET" sz="51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A2F171B-70CD-1979-B24B-D8EE6BB8F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2663" y="4159404"/>
            <a:ext cx="9325337" cy="2698596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10: Failure Recovery</a:t>
            </a:r>
          </a:p>
          <a:p>
            <a:endParaRPr lang="en-US" sz="8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  <a:p>
            <a:r>
              <a:rPr lang="en-US" sz="8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Nwanneka Okpala</a:t>
            </a:r>
          </a:p>
          <a:p>
            <a:r>
              <a:rPr lang="en-US" sz="8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Kamal Lamey</a:t>
            </a:r>
          </a:p>
          <a:p>
            <a:r>
              <a:rPr lang="en-US" sz="8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Saron 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Tsegay </a:t>
            </a:r>
            <a:r>
              <a:rPr lang="aa-ET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Tanushree Pandit </a:t>
            </a:r>
          </a:p>
          <a:p>
            <a:endParaRPr lang="en-US" sz="6400" dirty="0"/>
          </a:p>
          <a:p>
            <a:endParaRPr lang="aa-ET" sz="7200" dirty="0"/>
          </a:p>
          <a:p>
            <a:endParaRPr lang="aa-ET" dirty="0"/>
          </a:p>
          <a:p>
            <a:r>
              <a:rPr lang="aa-ET" dirty="0"/>
              <a:t> </a:t>
            </a:r>
          </a:p>
          <a:p>
            <a:r>
              <a:rPr lang="en-US" dirty="0"/>
              <a:t> s</a:t>
            </a:r>
            <a:endParaRPr lang="en-US" dirty="0">
              <a:solidFill>
                <a:srgbClr val="FFFFFF"/>
              </a:solidFill>
            </a:endParaRPr>
          </a:p>
          <a:p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127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907EF6B7-1338-4443-8C46-6A318D952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DAAE4CDD-124C-4DCF-9584-B6033B545D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DC7D25-432D-32C7-CC18-75BB8E92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Group Introduction &amp; Objectives</a:t>
            </a:r>
            <a:r>
              <a:rPr lang="en-US" b="0">
                <a:solidFill>
                  <a:srgbClr val="FFFFFF"/>
                </a:solidFill>
                <a:effectLst/>
              </a:rPr>
              <a:t/>
            </a:r>
            <a:br>
              <a:rPr lang="en-US" b="0">
                <a:solidFill>
                  <a:srgbClr val="FFFFFF"/>
                </a:solidFill>
                <a:effectLst/>
              </a:rPr>
            </a:br>
            <a:r>
              <a:rPr lang="en-US">
                <a:solidFill>
                  <a:srgbClr val="FFFFFF"/>
                </a:solidFill>
              </a:rPr>
              <a:t/>
            </a:r>
            <a:br>
              <a:rPr lang="en-US">
                <a:solidFill>
                  <a:srgbClr val="FFFFFF"/>
                </a:solidFill>
              </a:rPr>
            </a:br>
            <a:endParaRPr lang="aa-ET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xmlns="" id="{081E4A58-353D-44AE-B2FC-2A74E2E400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CA3F22-EF4F-B5C3-A515-5A3AF70EB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  <a:endParaRPr lang="en-US" sz="2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Our project implements a reactive failure recovery mechanism    in a Software-Defined Networking (SDN) environment. We utilize a custom POX controller script to manage network traffic dynamically.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 seamless recovery without relying on internal controller failure detection.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external failure notices from network links.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flow tables in switches to reroute traffic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recovery by re-generating traffic with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iperf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/>
            </a:r>
            <a:br>
              <a:rPr lang="en-US" sz="2000" dirty="0"/>
            </a:br>
            <a:endParaRPr lang="aa-ET" sz="2000" dirty="0"/>
          </a:p>
        </p:txBody>
      </p:sp>
    </p:spTree>
    <p:extLst>
      <p:ext uri="{BB962C8B-B14F-4D97-AF65-F5344CB8AC3E}">
        <p14:creationId xmlns:p14="http://schemas.microsoft.com/office/powerpoint/2010/main" val="1586257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913296-ED70-4321-B774-AB8CEDC8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Environment</a:t>
            </a:r>
            <a:endParaRPr lang="aa-E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xmlns="" id="{FC23E3B9-5ABF-58B3-E2B0-E9A5DAA900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91688B7-91CE-C559-4DC1-B01CC07C64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999" y="1700676"/>
            <a:ext cx="1111362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a-ET" altLang="aa-E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 environment is built using Mininet and consists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a-ET" altLang="aa-E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Hosts:</a:t>
            </a:r>
            <a:r>
              <a:rPr kumimoji="0" lang="aa-ET" altLang="aa-E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H1 (source) and H2 (destination)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a-ET" altLang="aa-E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Switches:</a:t>
            </a:r>
            <a:r>
              <a:rPr kumimoji="0" lang="aa-ET" altLang="aa-E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S2, S3, S4, S5</a:t>
            </a:r>
            <a:endParaRPr kumimoji="0" lang="en-US" altLang="aa-E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aa-ET" altLang="aa-E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a-ET" altLang="aa-E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topology provides </a:t>
            </a:r>
            <a:r>
              <a:rPr kumimoji="0" lang="aa-ET" altLang="aa-ET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redundant paths </a:t>
            </a:r>
            <a:r>
              <a:rPr kumimoji="0" lang="aa-ET" altLang="aa-E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between the hosts.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a-ET" altLang="aa-E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Path:</a:t>
            </a:r>
            <a:r>
              <a:rPr kumimoji="0" lang="aa-ET" altLang="aa-E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aa-ET" altLang="aa-E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aa-ET" altLang="aa-E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H1 → S3 → S2 → S4 → H2</a:t>
            </a:r>
            <a:endParaRPr kumimoji="0" lang="aa-ET" altLang="aa-E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a-ET" altLang="aa-E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Backup Path:</a:t>
            </a:r>
            <a:r>
              <a:rPr kumimoji="0" lang="aa-ET" altLang="aa-E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aa-ET" altLang="aa-E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aa-ET" altLang="aa-E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S3 → S5 → S4</a:t>
            </a:r>
            <a:endParaRPr kumimoji="0" lang="aa-ET" altLang="aa-E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aa-E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aa-ET" altLang="aa-E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redundancy allows the controller to reroute traffic when failures occur, demonstrating fault tolerance.</a:t>
            </a:r>
          </a:p>
        </p:txBody>
      </p:sp>
    </p:spTree>
    <p:extLst>
      <p:ext uri="{BB962C8B-B14F-4D97-AF65-F5344CB8AC3E}">
        <p14:creationId xmlns:p14="http://schemas.microsoft.com/office/powerpoint/2010/main" val="926314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Predefined Path </a:t>
            </a:r>
            <a:endParaRPr lang="en-JM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3272"/>
            <a:ext cx="10421804" cy="52109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934670"/>
            <a:ext cx="3396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a-ET" altLang="aa-ET" b="1" dirty="0">
                <a:latin typeface="+mj-lt"/>
                <a:cs typeface="Times New Roman" panose="02020603050405020304" pitchFamily="18" charset="0"/>
              </a:rPr>
              <a:t>Primary Path:</a:t>
            </a:r>
            <a:r>
              <a:rPr lang="aa-ET" altLang="aa-ET" dirty="0">
                <a:latin typeface="+mj-lt"/>
                <a:cs typeface="Times New Roman" panose="02020603050405020304" pitchFamily="18" charset="0"/>
              </a:rPr>
              <a:t/>
            </a:r>
            <a:br>
              <a:rPr lang="aa-ET" altLang="aa-ET" dirty="0">
                <a:latin typeface="+mj-lt"/>
                <a:cs typeface="Times New Roman" panose="02020603050405020304" pitchFamily="18" charset="0"/>
              </a:rPr>
            </a:br>
            <a:r>
              <a:rPr lang="aa-ET" altLang="aa-ET" b="1" dirty="0">
                <a:latin typeface="+mj-lt"/>
                <a:cs typeface="Times New Roman" panose="02020603050405020304" pitchFamily="18" charset="0"/>
              </a:rPr>
              <a:t>H1 → S3 → S2 → S4 → H2</a:t>
            </a:r>
            <a:endParaRPr lang="aa-ET" altLang="aa-ET" dirty="0">
              <a:latin typeface="+mj-lt"/>
              <a:cs typeface="Times New Roman" panose="02020603050405020304" pitchFamily="18" charset="0"/>
            </a:endParaRPr>
          </a:p>
          <a:p>
            <a:endParaRPr lang="en-JM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07802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Back-up Path in Event of Failure</a:t>
            </a:r>
            <a:endParaRPr lang="en-JM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690688"/>
            <a:ext cx="9184364" cy="46040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19057"/>
            <a:ext cx="2204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a-ET" altLang="aa-ET" b="1" dirty="0">
                <a:latin typeface="+mj-lt"/>
                <a:cs typeface="Times New Roman" panose="02020603050405020304" pitchFamily="18" charset="0"/>
              </a:rPr>
              <a:t>Backup Path:</a:t>
            </a:r>
            <a:r>
              <a:rPr lang="aa-ET" altLang="aa-ET" dirty="0">
                <a:latin typeface="+mj-lt"/>
                <a:cs typeface="Times New Roman" panose="02020603050405020304" pitchFamily="18" charset="0"/>
              </a:rPr>
              <a:t/>
            </a:r>
            <a:br>
              <a:rPr lang="aa-ET" altLang="aa-ET" dirty="0">
                <a:latin typeface="+mj-lt"/>
                <a:cs typeface="Times New Roman" panose="02020603050405020304" pitchFamily="18" charset="0"/>
              </a:rPr>
            </a:br>
            <a:r>
              <a:rPr lang="aa-ET" altLang="aa-ET" b="1" dirty="0">
                <a:latin typeface="+mj-lt"/>
                <a:cs typeface="Times New Roman" panose="02020603050405020304" pitchFamily="18" charset="0"/>
              </a:rPr>
              <a:t>S3 → S5 → S4</a:t>
            </a:r>
            <a:endParaRPr lang="aa-ET" altLang="aa-ET" dirty="0">
              <a:latin typeface="+mj-lt"/>
              <a:cs typeface="Times New Roman" panose="02020603050405020304" pitchFamily="18" charset="0"/>
            </a:endParaRPr>
          </a:p>
          <a:p>
            <a:endParaRPr lang="en-JM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0788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363DD3-65D1-4B31-D77A-A02FB135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Platform &amp; Tools</a:t>
            </a:r>
            <a:endParaRPr lang="aa-ET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xmlns="" id="{C50D2B2A-17FE-AF05-5F10-E776CDDB3B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33" y="1690688"/>
            <a:ext cx="57150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8B7A270-25B4-72B8-A715-5E29778B3652}"/>
              </a:ext>
            </a:extLst>
          </p:cNvPr>
          <p:cNvSpPr txBox="1"/>
          <p:nvPr/>
        </p:nvSpPr>
        <p:spPr>
          <a:xfrm>
            <a:off x="838200" y="240227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11CAA0"/>
                </a:solidFill>
                <a:effectLst/>
                <a:latin typeface="Merriweather" panose="00000500000000000000" pitchFamily="2" charset="0"/>
              </a:rPr>
              <a:t>Mininet</a:t>
            </a:r>
            <a:endParaRPr lang="aa-E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DF36A36-CCBB-64AA-8777-C536D4C23AD9}"/>
              </a:ext>
            </a:extLst>
          </p:cNvPr>
          <p:cNvSpPr txBox="1"/>
          <p:nvPr/>
        </p:nvSpPr>
        <p:spPr>
          <a:xfrm>
            <a:off x="650113" y="2869001"/>
            <a:ext cx="18615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the virtual SDN environment containing hosts and OpenFlow switches</a:t>
            </a:r>
            <a:endParaRPr lang="aa-E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xmlns="" id="{6915E516-4064-D8F9-29DD-FD82B8B5C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011" y="1672250"/>
            <a:ext cx="365929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A94DFF1-6FB3-EAB7-35AB-C05FF04A93AD}"/>
              </a:ext>
            </a:extLst>
          </p:cNvPr>
          <p:cNvSpPr txBox="1"/>
          <p:nvPr/>
        </p:nvSpPr>
        <p:spPr>
          <a:xfrm>
            <a:off x="3486874" y="240314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11CAA0"/>
                </a:solidFill>
                <a:effectLst/>
                <a:latin typeface="Merriweather" panose="00000500000000000000" pitchFamily="2" charset="0"/>
              </a:rPr>
              <a:t>POX Controller</a:t>
            </a:r>
            <a:endParaRPr lang="aa-ET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714E136-B516-BA6A-39ED-EA3920BFBF39}"/>
              </a:ext>
            </a:extLst>
          </p:cNvPr>
          <p:cNvSpPr txBox="1"/>
          <p:nvPr/>
        </p:nvSpPr>
        <p:spPr>
          <a:xfrm>
            <a:off x="3020029" y="2925480"/>
            <a:ext cx="3272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Python-based controller handling OpenFlow Communications </a:t>
            </a:r>
            <a:endParaRPr lang="aa-E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xmlns="" id="{E2AC1EE7-09F6-2F43-A44D-E08AB2E22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9413" y="1757879"/>
            <a:ext cx="45720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74E3B67-F2E6-C113-E8C7-1258E3B9F51E}"/>
              </a:ext>
            </a:extLst>
          </p:cNvPr>
          <p:cNvSpPr txBox="1"/>
          <p:nvPr/>
        </p:nvSpPr>
        <p:spPr>
          <a:xfrm>
            <a:off x="6932270" y="245097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11CAA0"/>
                </a:solidFill>
                <a:effectLst/>
                <a:latin typeface="Merriweather" panose="00000500000000000000" pitchFamily="2" charset="0"/>
              </a:rPr>
              <a:t>Open </a:t>
            </a:r>
            <a:r>
              <a:rPr lang="en-US" sz="1800" b="1" i="0" u="none" strike="noStrike" dirty="0" err="1">
                <a:solidFill>
                  <a:srgbClr val="11CAA0"/>
                </a:solidFill>
                <a:effectLst/>
                <a:latin typeface="Merriweather" panose="00000500000000000000" pitchFamily="2" charset="0"/>
              </a:rPr>
              <a:t>vSwitch</a:t>
            </a:r>
            <a:endParaRPr lang="aa-ET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8AF1F12-D087-D685-BB1A-95EC00C8E639}"/>
              </a:ext>
            </a:extLst>
          </p:cNvPr>
          <p:cNvSpPr txBox="1"/>
          <p:nvPr/>
        </p:nvSpPr>
        <p:spPr>
          <a:xfrm>
            <a:off x="6801093" y="2971646"/>
            <a:ext cx="2239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OpenFlow enabled virtual switches used to build and emulate the topology.</a:t>
            </a:r>
            <a:endParaRPr lang="aa-E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FD4E3302-8EB9-D503-AFC4-87549CCE7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886" y="1842943"/>
            <a:ext cx="45720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9350081-B1F1-D3E7-0765-756E88A5DB85}"/>
              </a:ext>
            </a:extLst>
          </p:cNvPr>
          <p:cNvSpPr txBox="1"/>
          <p:nvPr/>
        </p:nvSpPr>
        <p:spPr>
          <a:xfrm>
            <a:off x="10061294" y="2402276"/>
            <a:ext cx="6510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 err="1">
                <a:solidFill>
                  <a:srgbClr val="11CAA0"/>
                </a:solidFill>
                <a:effectLst/>
                <a:latin typeface="Merriweather" panose="00000500000000000000" pitchFamily="2" charset="0"/>
              </a:rPr>
              <a:t>iperf</a:t>
            </a:r>
            <a:endParaRPr lang="aa-E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3B736CA-B84A-D2C6-A41C-E74257F56EEF}"/>
              </a:ext>
            </a:extLst>
          </p:cNvPr>
          <p:cNvSpPr txBox="1"/>
          <p:nvPr/>
        </p:nvSpPr>
        <p:spPr>
          <a:xfrm>
            <a:off x="9186445" y="2971646"/>
            <a:ext cx="8287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TCP/UDP traffic to </a:t>
            </a:r>
          </a:p>
          <a:p>
            <a:r>
              <a:rPr lang="en-US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throughput </a:t>
            </a:r>
            <a:r>
              <a:rPr lang="en-US" sz="1800" b="0" i="0" u="none" strike="noStrike" dirty="0">
                <a:solidFill>
                  <a:srgbClr val="E0E7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recover</a:t>
            </a:r>
            <a:endParaRPr lang="aa-E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728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2AE1BF-7B1F-DEDF-E45D-15DD8B702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High-Level System Design</a:t>
            </a:r>
            <a:endParaRPr lang="aa-ET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714C26E5-3D2A-7627-7BBA-16D029652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0054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0184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907EF6B7-1338-4443-8C46-6A318D952D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DAAE4CDD-124C-4DCF-9584-B6033B545D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5628CA-6A76-DCFF-97E6-59D102CB5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2100" b="1">
                <a:solidFill>
                  <a:srgbClr val="FFFFFF"/>
                </a:solidFill>
              </a:rPr>
              <a:t>Methodology: The “OperationSaveTheDay" Script</a:t>
            </a:r>
            <a:endParaRPr lang="aa-ET" sz="2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xmlns="" id="{081E4A58-353D-44AE-B2FC-2A74E2E400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D0BEF1-A05A-AA4C-5333-1E97F4E87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 Traffic: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trafficSniffer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monitors flows.</a:t>
            </a: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Failure: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failChecker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looks for dropped link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Data: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failureTag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logs timestamp and link ID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Re-compute: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computePath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finds alternative route.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updateFlowTables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pushes new rules.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generateNetTraffic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runs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iperf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</a:t>
            </a:r>
            <a:endParaRPr lang="aa-E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989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Topology Implementation</a:t>
            </a:r>
            <a:endParaRPr lang="en-JM" dirty="0"/>
          </a:p>
        </p:txBody>
      </p:sp>
      <p:pic>
        <p:nvPicPr>
          <p:cNvPr id="5" name="image6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99367" y="1690688"/>
            <a:ext cx="4276150" cy="4839508"/>
          </a:xfrm>
          <a:prstGeom prst="rect">
            <a:avLst/>
          </a:prstGeom>
          <a:ln/>
        </p:spPr>
      </p:pic>
      <p:pic>
        <p:nvPicPr>
          <p:cNvPr id="6" name="image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855563" y="1690688"/>
            <a:ext cx="4469592" cy="4839508"/>
          </a:xfrm>
          <a:prstGeom prst="rect">
            <a:avLst/>
          </a:prstGeom>
          <a:ln/>
        </p:spPr>
      </p:pic>
      <p:sp>
        <p:nvSpPr>
          <p:cNvPr id="7" name="TextBox 6"/>
          <p:cNvSpPr txBox="1"/>
          <p:nvPr/>
        </p:nvSpPr>
        <p:spPr>
          <a:xfrm>
            <a:off x="8100203" y="1751160"/>
            <a:ext cx="3925019" cy="28931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JM" sz="1400" b="1" dirty="0">
                <a:solidFill>
                  <a:srgbClr val="FF0000"/>
                </a:solidFill>
              </a:rPr>
              <a:t>This is the code for </a:t>
            </a:r>
            <a:r>
              <a:rPr lang="en-JM" sz="1400" b="1" dirty="0" err="1">
                <a:solidFill>
                  <a:srgbClr val="FF0000"/>
                </a:solidFill>
              </a:rPr>
              <a:t>mininet</a:t>
            </a:r>
            <a:r>
              <a:rPr lang="en-JM" sz="1400" b="1" dirty="0">
                <a:solidFill>
                  <a:srgbClr val="FF0000"/>
                </a:solidFill>
              </a:rPr>
              <a:t> topology (</a:t>
            </a:r>
            <a:r>
              <a:rPr lang="en-JM" sz="1400" b="1" u="sng" dirty="0" smtClean="0">
                <a:solidFill>
                  <a:srgbClr val="FF0000"/>
                </a:solidFill>
                <a:hlinkClick r:id="rId4"/>
              </a:rPr>
              <a:t>small-topo.py</a:t>
            </a:r>
            <a:r>
              <a:rPr lang="en-JM" sz="1400" b="1" dirty="0" smtClean="0">
                <a:solidFill>
                  <a:srgbClr val="FF0000"/>
                </a:solidFill>
              </a:rPr>
              <a:t>. </a:t>
            </a:r>
          </a:p>
          <a:p>
            <a:endParaRPr lang="en-JM" sz="1400" b="1" dirty="0">
              <a:solidFill>
                <a:srgbClr val="FF0000"/>
              </a:solidFill>
            </a:endParaRPr>
          </a:p>
          <a:p>
            <a:r>
              <a:rPr lang="en-JM" sz="1400" b="1" dirty="0" smtClean="0">
                <a:solidFill>
                  <a:srgbClr val="FF0000"/>
                </a:solidFill>
              </a:rPr>
              <a:t>It </a:t>
            </a:r>
            <a:r>
              <a:rPr lang="en-JM" sz="1400" b="1" dirty="0">
                <a:solidFill>
                  <a:srgbClr val="FF0000"/>
                </a:solidFill>
              </a:rPr>
              <a:t>builds a small test network with two hosts (h1 and h2) and four switches ( s2, s3,s4,s5) while a backup path goes through s3-&gt;s5&gt;54</a:t>
            </a:r>
            <a:r>
              <a:rPr lang="en-JM" sz="1400" b="1" dirty="0" smtClean="0">
                <a:solidFill>
                  <a:srgbClr val="FF0000"/>
                </a:solidFill>
              </a:rPr>
              <a:t>.</a:t>
            </a:r>
          </a:p>
          <a:p>
            <a:endParaRPr lang="en-JM" sz="1400" b="1" dirty="0">
              <a:solidFill>
                <a:srgbClr val="FF0000"/>
              </a:solidFill>
            </a:endParaRPr>
          </a:p>
          <a:p>
            <a:r>
              <a:rPr lang="en-JM" sz="1400" b="1" dirty="0" smtClean="0">
                <a:solidFill>
                  <a:srgbClr val="FF0000"/>
                </a:solidFill>
              </a:rPr>
              <a:t>This </a:t>
            </a:r>
            <a:r>
              <a:rPr lang="en-JM" sz="1400" b="1" dirty="0">
                <a:solidFill>
                  <a:srgbClr val="FF0000"/>
                </a:solidFill>
              </a:rPr>
              <a:t>set up lets us test the controller failover logic by stimulating link failures and watching traffic reroutes automatically.</a:t>
            </a:r>
            <a:endParaRPr lang="en-JM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702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OperationSaveTheDay.py Implementation</a:t>
            </a:r>
            <a:endParaRPr lang="en-JM" dirty="0"/>
          </a:p>
        </p:txBody>
      </p:sp>
      <p:pic>
        <p:nvPicPr>
          <p:cNvPr id="11" name="image1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02220" y="1984238"/>
            <a:ext cx="4263078" cy="4735738"/>
          </a:xfrm>
          <a:prstGeom prst="rect">
            <a:avLst/>
          </a:prstGeom>
          <a:ln/>
        </p:spPr>
      </p:pic>
      <p:pic>
        <p:nvPicPr>
          <p:cNvPr id="12" name="image5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354457" y="1984238"/>
            <a:ext cx="4289875" cy="4623596"/>
          </a:xfrm>
          <a:prstGeom prst="rect">
            <a:avLst/>
          </a:prstGeom>
          <a:ln/>
        </p:spPr>
      </p:pic>
      <p:sp>
        <p:nvSpPr>
          <p:cNvPr id="15" name="Rectangle 14"/>
          <p:cNvSpPr/>
          <p:nvPr/>
        </p:nvSpPr>
        <p:spPr>
          <a:xfrm>
            <a:off x="602220" y="4071668"/>
            <a:ext cx="2917357" cy="431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  <p:sp>
        <p:nvSpPr>
          <p:cNvPr id="16" name="Rectangle 15"/>
          <p:cNvSpPr/>
          <p:nvPr/>
        </p:nvSpPr>
        <p:spPr>
          <a:xfrm>
            <a:off x="5354457" y="3873259"/>
            <a:ext cx="3375475" cy="26655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  <p:sp>
        <p:nvSpPr>
          <p:cNvPr id="17" name="TextBox 16"/>
          <p:cNvSpPr txBox="1"/>
          <p:nvPr/>
        </p:nvSpPr>
        <p:spPr>
          <a:xfrm>
            <a:off x="8375140" y="3073040"/>
            <a:ext cx="3516701" cy="160043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In this project, we built a custom POX control called </a:t>
            </a:r>
            <a:r>
              <a:rPr lang="en-US" sz="1400" b="1" dirty="0" smtClean="0">
                <a:solidFill>
                  <a:srgbClr val="FF0000"/>
                </a:solidFill>
              </a:rPr>
              <a:t>OperationSaveTheDay.py </a:t>
            </a:r>
            <a:r>
              <a:rPr lang="en-US" sz="1400" b="1" dirty="0">
                <a:solidFill>
                  <a:srgbClr val="FF0000"/>
                </a:solidFill>
              </a:rPr>
              <a:t>to keep two hosts(h1 and h2) </a:t>
            </a:r>
            <a:r>
              <a:rPr lang="en-US" sz="1400" b="1" dirty="0" smtClean="0">
                <a:solidFill>
                  <a:srgbClr val="FF0000"/>
                </a:solidFill>
              </a:rPr>
              <a:t>connected.</a:t>
            </a:r>
          </a:p>
          <a:p>
            <a:endParaRPr lang="en-US" sz="1400" b="1" dirty="0">
              <a:solidFill>
                <a:srgbClr val="FF0000"/>
              </a:solidFill>
            </a:endParaRPr>
          </a:p>
          <a:p>
            <a:r>
              <a:rPr lang="en-US" sz="1400" b="1" dirty="0" smtClean="0">
                <a:solidFill>
                  <a:srgbClr val="FF0000"/>
                </a:solidFill>
              </a:rPr>
              <a:t>It </a:t>
            </a:r>
            <a:r>
              <a:rPr lang="en-US" sz="1400" b="1" dirty="0">
                <a:solidFill>
                  <a:srgbClr val="FF0000"/>
                </a:solidFill>
              </a:rPr>
              <a:t>uses a  primary path through switch </a:t>
            </a:r>
            <a:r>
              <a:rPr lang="en-US" sz="1400" b="1" dirty="0" smtClean="0">
                <a:solidFill>
                  <a:srgbClr val="FF0000"/>
                </a:solidFill>
              </a:rPr>
              <a:t>s3-s2-s4.</a:t>
            </a:r>
            <a:endParaRPr lang="en-JM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791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OperationSaveTheDay.py Implementation cont’d</a:t>
            </a:r>
            <a:endParaRPr lang="en-JM" dirty="0"/>
          </a:p>
        </p:txBody>
      </p:sp>
      <p:pic>
        <p:nvPicPr>
          <p:cNvPr id="7" name="image8.png"/>
          <p:cNvPicPr/>
          <p:nvPr/>
        </p:nvPicPr>
        <p:blipFill rotWithShape="1">
          <a:blip r:embed="rId2"/>
          <a:srcRect r="27367"/>
          <a:stretch/>
        </p:blipFill>
        <p:spPr>
          <a:xfrm>
            <a:off x="776665" y="1974526"/>
            <a:ext cx="3941984" cy="4305504"/>
          </a:xfrm>
          <a:prstGeom prst="rect">
            <a:avLst/>
          </a:prstGeom>
          <a:ln/>
        </p:spPr>
      </p:pic>
      <p:pic>
        <p:nvPicPr>
          <p:cNvPr id="8" name="image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237671" y="1974525"/>
            <a:ext cx="5493589" cy="4745451"/>
          </a:xfrm>
          <a:prstGeom prst="rect">
            <a:avLst/>
          </a:prstGeom>
          <a:ln/>
        </p:spPr>
      </p:pic>
      <p:sp>
        <p:nvSpPr>
          <p:cNvPr id="9" name="TextBox 8"/>
          <p:cNvSpPr txBox="1"/>
          <p:nvPr/>
        </p:nvSpPr>
        <p:spPr>
          <a:xfrm>
            <a:off x="7776712" y="5510956"/>
            <a:ext cx="3925019" cy="5232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If the primary </a:t>
            </a:r>
            <a:r>
              <a:rPr lang="en-US" sz="1400" b="1" dirty="0">
                <a:solidFill>
                  <a:srgbClr val="FF0000"/>
                </a:solidFill>
              </a:rPr>
              <a:t>link </a:t>
            </a:r>
            <a:r>
              <a:rPr lang="en-US" sz="1400" b="1" dirty="0" smtClean="0">
                <a:solidFill>
                  <a:srgbClr val="FF0000"/>
                </a:solidFill>
              </a:rPr>
              <a:t>fails, </a:t>
            </a:r>
            <a:r>
              <a:rPr lang="en-US" sz="1400" b="1" dirty="0">
                <a:solidFill>
                  <a:srgbClr val="FF0000"/>
                </a:solidFill>
              </a:rPr>
              <a:t>it reroutes through 3-5-4</a:t>
            </a:r>
            <a:r>
              <a:rPr lang="en-US" sz="1400" b="1" dirty="0" smtClean="0">
                <a:solidFill>
                  <a:srgbClr val="FF0000"/>
                </a:solidFill>
              </a:rPr>
              <a:t>.</a:t>
            </a:r>
            <a:endParaRPr lang="en-JM" sz="14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3588589"/>
            <a:ext cx="3707921" cy="2691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  <p:sp>
        <p:nvSpPr>
          <p:cNvPr id="10" name="Rectangle 9"/>
          <p:cNvSpPr/>
          <p:nvPr/>
        </p:nvSpPr>
        <p:spPr>
          <a:xfrm>
            <a:off x="5254924" y="2242868"/>
            <a:ext cx="4553309" cy="31055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400231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OperationSaveTheDay.py Implementation cont’d</a:t>
            </a:r>
            <a:endParaRPr lang="en-JM" dirty="0"/>
          </a:p>
        </p:txBody>
      </p:sp>
      <p:sp>
        <p:nvSpPr>
          <p:cNvPr id="6" name="TextBox 5"/>
          <p:cNvSpPr txBox="1"/>
          <p:nvPr/>
        </p:nvSpPr>
        <p:spPr>
          <a:xfrm>
            <a:off x="8100203" y="1751160"/>
            <a:ext cx="3925019" cy="138499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The </a:t>
            </a:r>
            <a:r>
              <a:rPr lang="en-US" sz="1400" b="1" dirty="0">
                <a:solidFill>
                  <a:srgbClr val="FF0000"/>
                </a:solidFill>
              </a:rPr>
              <a:t>code listens POXs discovery events, updates its adjacency map, and </a:t>
            </a:r>
            <a:r>
              <a:rPr lang="en-US" sz="1400" b="1" dirty="0" smtClean="0">
                <a:solidFill>
                  <a:srgbClr val="FF0000"/>
                </a:solidFill>
              </a:rPr>
              <a:t>reprograms </a:t>
            </a:r>
            <a:r>
              <a:rPr lang="en-US" sz="1400" b="1" dirty="0">
                <a:solidFill>
                  <a:srgbClr val="FF0000"/>
                </a:solidFill>
              </a:rPr>
              <a:t>the switches automatically. That way , connectivity is maintained even during failures. </a:t>
            </a:r>
            <a:endParaRPr lang="en-JM" sz="1400" b="1" dirty="0">
              <a:solidFill>
                <a:srgbClr val="FF0000"/>
              </a:solidFill>
            </a:endParaRPr>
          </a:p>
        </p:txBody>
      </p:sp>
      <p:pic>
        <p:nvPicPr>
          <p:cNvPr id="7" name="image4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50343" y="1872716"/>
            <a:ext cx="6753046" cy="4174401"/>
          </a:xfrm>
          <a:prstGeom prst="rect">
            <a:avLst/>
          </a:prstGeom>
          <a:ln/>
        </p:spPr>
      </p:pic>
      <p:sp>
        <p:nvSpPr>
          <p:cNvPr id="8" name="Rectangle 7"/>
          <p:cNvSpPr/>
          <p:nvPr/>
        </p:nvSpPr>
        <p:spPr>
          <a:xfrm>
            <a:off x="950343" y="3485072"/>
            <a:ext cx="6019800" cy="24585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085026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CA81A3-EDB2-4D36-0761-7F4FF5266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Showcase Demo</a:t>
            </a:r>
            <a:endParaRPr lang="aa-ET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AE098C-3C65-620F-51F6-B73915B76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5581980" cy="386732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Workflow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Launch POX Controller.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2. Start Mininet Topology.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Run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iperf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from H1 to H2 to measure baseline throughput.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4.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Failure: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link s3 s2 down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Observe real-time recovery logs.</a:t>
            </a:r>
          </a:p>
        </p:txBody>
      </p:sp>
      <p:pic>
        <p:nvPicPr>
          <p:cNvPr id="19" name="Graphic 18" descr="Gears">
            <a:extLst>
              <a:ext uri="{FF2B5EF4-FFF2-40B4-BE49-F238E27FC236}">
                <a16:creationId xmlns:a16="http://schemas.microsoft.com/office/drawing/2014/main" xmlns="" id="{16F85EBD-B3DB-268B-B4CE-E320ECEA9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490081" y="741391"/>
            <a:ext cx="5384528" cy="538452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6258F736-B256-8039-9DC6-F4E49A5C5A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0B4520A-996E-330C-99DA-69CA4D89E90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EC8FA945-E356-695F-18D6-CAD4EF34FE4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68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B0AF3E-BE44-D957-197B-BD4D3DCF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Topology and Test Connectivity</a:t>
            </a:r>
            <a:endParaRPr lang="aa-ET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1"/>
          <a:stretch/>
        </p:blipFill>
        <p:spPr>
          <a:xfrm>
            <a:off x="1949833" y="1765239"/>
            <a:ext cx="6210756" cy="45113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949833" y="3183148"/>
            <a:ext cx="4364703" cy="2182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  <p:sp>
        <p:nvSpPr>
          <p:cNvPr id="9" name="Rectangle 8"/>
          <p:cNvSpPr/>
          <p:nvPr/>
        </p:nvSpPr>
        <p:spPr>
          <a:xfrm>
            <a:off x="3324225" y="3305175"/>
            <a:ext cx="1666875" cy="20955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1028078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EA3A26-623E-ACB1-1E0B-73AC8982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 Scenario Topology</a:t>
            </a:r>
            <a:endParaRPr lang="aa-ET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C5883ABC-2CE7-CDCD-EFFF-446C6F48D5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88" y="1690688"/>
            <a:ext cx="942466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16687" y="3640346"/>
            <a:ext cx="9424661" cy="24016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  <p:sp>
        <p:nvSpPr>
          <p:cNvPr id="4" name="Line Callout 2 3"/>
          <p:cNvSpPr/>
          <p:nvPr/>
        </p:nvSpPr>
        <p:spPr>
          <a:xfrm>
            <a:off x="3395933" y="2106888"/>
            <a:ext cx="1897810" cy="37241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0183"/>
              <a:gd name="adj6" fmla="val -64394"/>
            </a:avLst>
          </a:prstGeom>
          <a:solidFill>
            <a:schemeClr val="bg1"/>
          </a:solidFill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Command to drop s2</a:t>
            </a:r>
            <a:endParaRPr lang="en-JM" sz="1200" dirty="0">
              <a:solidFill>
                <a:srgbClr val="FF0000"/>
              </a:solidFill>
            </a:endParaRPr>
          </a:p>
        </p:txBody>
      </p:sp>
      <p:sp>
        <p:nvSpPr>
          <p:cNvPr id="7" name="Line Callout 2 6"/>
          <p:cNvSpPr/>
          <p:nvPr/>
        </p:nvSpPr>
        <p:spPr>
          <a:xfrm flipH="1">
            <a:off x="6351918" y="2873617"/>
            <a:ext cx="1897810" cy="37241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44529"/>
              <a:gd name="adj6" fmla="val -54394"/>
            </a:avLst>
          </a:prstGeom>
          <a:solidFill>
            <a:schemeClr val="bg1"/>
          </a:solidFill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Flows after failing s2</a:t>
            </a:r>
            <a:endParaRPr lang="en-JM" sz="1200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6687" y="2479307"/>
            <a:ext cx="1714038" cy="125870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  <p:sp>
        <p:nvSpPr>
          <p:cNvPr id="9" name="Rectangle 8"/>
          <p:cNvSpPr/>
          <p:nvPr/>
        </p:nvSpPr>
        <p:spPr>
          <a:xfrm>
            <a:off x="423016" y="3640345"/>
            <a:ext cx="1785347" cy="125871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561713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00559F-C347-07EC-8E8B-E4806082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Failure Scenario (traffic going through backup route)</a:t>
            </a:r>
            <a:endParaRPr lang="aa-E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E4CC705F-185D-411E-D68F-5B7C5A79C0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920830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838200" y="4528868"/>
            <a:ext cx="3431875" cy="16480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  <p:sp>
        <p:nvSpPr>
          <p:cNvPr id="5" name="Rectangle 4"/>
          <p:cNvSpPr/>
          <p:nvPr/>
        </p:nvSpPr>
        <p:spPr>
          <a:xfrm>
            <a:off x="838200" y="4528868"/>
            <a:ext cx="1180381" cy="146649"/>
          </a:xfrm>
          <a:prstGeom prst="rect">
            <a:avLst/>
          </a:prstGeom>
          <a:solidFill>
            <a:srgbClr val="FFFF00">
              <a:alpha val="3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069040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xmlns="" id="{23D09407-53BC-485E-B4CE-BC5E4FC4B2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921DB988-49FC-4608-B0A2-E2F3A40190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2F40AB-FEF6-7EF1-B38A-AA62B0C62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 FOR LISTENING</a:t>
            </a:r>
            <a:b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xmlns="" id="{E9B930FD-8671-4C4C-ADCF-73AC1D0CD4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xmlns="" id="{C35B12C1-569C-4E37-AA33-7EF215F201B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xmlns="" id="{F23E2660-7810-46F6-8752-187127C830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xmlns="" id="{C991DC45-0378-45B3-B325-FB8F98545E6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xmlns="" id="{E228F5BA-5150-4554-B7EA-93F371F3B1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Content Placeholder 6" descr="Smiling Face with No Fill">
            <a:extLst>
              <a:ext uri="{FF2B5EF4-FFF2-40B4-BE49-F238E27FC236}">
                <a16:creationId xmlns:a16="http://schemas.microsoft.com/office/drawing/2014/main" xmlns="" id="{BBD4D036-2862-81DD-D2A7-572E813A5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646990" y="320231"/>
            <a:ext cx="2836567" cy="2836567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xmlns="" id="{383C2651-AE0C-4AE4-8725-E2F9414FE2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xmlns="" id="{CCE13265-B5D2-47B4-A199-E05F390D5B9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xmlns="" id="{693EBD03-D832-462C-9304-7273698ED4F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xmlns="" id="{0D53D3E2-805E-40D2-964F-352BF6D476B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xmlns="" id="{B7A9A916-A926-43E6-800F-432ABC3F244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164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1957</TotalTime>
  <Words>507</Words>
  <Application>Microsoft Office PowerPoint</Application>
  <PresentationFormat>Widescreen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Merriweather</vt:lpstr>
      <vt:lpstr>Times New Roman</vt:lpstr>
      <vt:lpstr>Office Theme</vt:lpstr>
      <vt:lpstr>Network Reactive Failure Recovery  </vt:lpstr>
      <vt:lpstr>Group Introduction &amp; Objectives  </vt:lpstr>
      <vt:lpstr>Simulation Environment</vt:lpstr>
      <vt:lpstr>Main Predefined Path </vt:lpstr>
      <vt:lpstr>Back-up Path in Event of Failure</vt:lpstr>
      <vt:lpstr>Platform &amp; Tools</vt:lpstr>
      <vt:lpstr>High-Level System Design</vt:lpstr>
      <vt:lpstr>Methodology: The “OperationSaveTheDay" Script</vt:lpstr>
      <vt:lpstr>Topology Implementation</vt:lpstr>
      <vt:lpstr>OperationSaveTheDay.py Implementation</vt:lpstr>
      <vt:lpstr>OperationSaveTheDay.py Implementation cont’d</vt:lpstr>
      <vt:lpstr>OperationSaveTheDay.py Implementation cont’d</vt:lpstr>
      <vt:lpstr>Showcase Demo</vt:lpstr>
      <vt:lpstr>Execute Topology and Test Connectivity</vt:lpstr>
      <vt:lpstr>Failure Scenario Topology</vt:lpstr>
      <vt:lpstr>Recovery Failure Scenario (traffic going through backup route)</vt:lpstr>
      <vt:lpstr>THANK YOU FOR LISTENING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Reactive Failure Recovery</dc:title>
  <dc:creator>Gloria Okpala</dc:creator>
  <cp:lastModifiedBy>Kamal</cp:lastModifiedBy>
  <cp:revision>30</cp:revision>
  <dcterms:created xsi:type="dcterms:W3CDTF">2025-11-29T20:42:36Z</dcterms:created>
  <dcterms:modified xsi:type="dcterms:W3CDTF">2025-12-02T03:40:06Z</dcterms:modified>
</cp:coreProperties>
</file>